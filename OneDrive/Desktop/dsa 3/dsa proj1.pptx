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Inter" charset="0"/>
      <p:regular r:id="rId12"/>
    </p:embeddedFon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Garamond" pitchFamily="18" charset="0"/>
      <p:regular r:id="rId17"/>
      <p:bold r:id="rId18"/>
      <p:italic r:id="rId19"/>
    </p:embeddedFont>
    <p:embeddedFont>
      <p:font typeface="Inter Bold" charset="0"/>
      <p:regular r:id="rId20"/>
    </p:embeddedFont>
    <p:embeddedFont>
      <p:font typeface="DM Sans Medium" charset="0"/>
      <p:regular r:id="rId21"/>
    </p:embeddedFont>
    <p:embeddedFont>
      <p:font typeface="Tahoma" pitchFamily="34" charset="0"/>
      <p:regular r:id="rId22"/>
      <p:bold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96" y="-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661C4-3CC3-4FA2-9972-D44138B13216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67E9E-3657-48D8-8A2B-4D946F148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98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200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193965"/>
            <a:ext cx="9144000" cy="119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1771650"/>
            <a:ext cx="4114800" cy="84582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2284095"/>
            <a:ext cx="4013200" cy="321469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1798320"/>
            <a:ext cx="4013200" cy="44958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A98AF03-7270-45C2-A683-C5E353EF01A5}" type="datetime4">
              <a:rPr lang="en-US" smtClean="0"/>
              <a:pPr/>
              <a:t>August 17, 2026</a:t>
            </a:fld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1515618"/>
            <a:ext cx="8229600" cy="30563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A93482-8E69-40F7-BCAD-5662A6CADB27}" type="datetime4">
              <a:rPr lang="en-US" smtClean="0"/>
              <a:pPr/>
              <a:t>August 17, 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942082"/>
            <a:ext cx="9144000" cy="2201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2941320"/>
            <a:ext cx="9144000" cy="1191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2526030"/>
            <a:ext cx="4114800" cy="84582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3" y="2525435"/>
            <a:ext cx="4085897" cy="530116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3" y="3063433"/>
            <a:ext cx="4106917" cy="297821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EAE1-CAAC-4AEF-919E-158692B1E55E}" type="datetime4">
              <a:rPr lang="en-US" smtClean="0"/>
              <a:pPr/>
              <a:t>August 17, 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1515618"/>
            <a:ext cx="4023360" cy="30038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1515618"/>
            <a:ext cx="4023360" cy="30038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525A706-D8F2-4D1A-855A-CADC92600C26}" type="datetime4">
              <a:rPr lang="en-US" smtClean="0"/>
              <a:pPr/>
              <a:t>August 17, 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114550"/>
            <a:ext cx="4023360" cy="240715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112264"/>
            <a:ext cx="4023360" cy="240715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515618"/>
            <a:ext cx="4023360" cy="528066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1515618"/>
            <a:ext cx="4023360" cy="528066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9B4F123-1704-49AC-9D15-C4B1462B8014}" type="datetime4">
              <a:rPr lang="en-US" smtClean="0"/>
              <a:pPr/>
              <a:t>August 17, 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7EC2-47FB-48A1-8644-C8A81DDAA119}" type="datetime4">
              <a:rPr lang="en-US" smtClean="0"/>
              <a:pPr/>
              <a:t>August 17, 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C3ED-7435-49F9-84C8-03CCA2F8DEDB}" type="datetime4">
              <a:rPr lang="en-US" smtClean="0"/>
              <a:pPr/>
              <a:t>August 17, 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435894"/>
            <a:ext cx="6172200" cy="26331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4135374"/>
            <a:ext cx="5669280" cy="41148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FC49BF1-FCD3-4395-8FF6-0047AF66228E}" type="datetime4">
              <a:rPr lang="en-US" smtClean="0"/>
              <a:pPr/>
              <a:t>August 17, 2026</a:t>
            </a:fld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1520188"/>
            <a:ext cx="5439582" cy="2447813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4137660"/>
            <a:ext cx="5669280" cy="41148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731520"/>
            <a:ext cx="4114800" cy="5257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04885"/>
            <a:ext cx="3181350" cy="219075"/>
          </a:xfrm>
        </p:spPr>
        <p:txBody>
          <a:bodyPr/>
          <a:lstStyle/>
          <a:p>
            <a:fld id="{CA861222-2C8B-4501-BE87-6797EC025925}" type="datetime4">
              <a:rPr lang="en-US" smtClean="0"/>
              <a:pPr/>
              <a:t>August 17, 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4629150"/>
            <a:ext cx="1066800" cy="228600"/>
          </a:xfrm>
        </p:spPr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4864894"/>
            <a:ext cx="6248400" cy="219075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5AFD-D735-4504-A039-ADEBB6448D55}" type="datetime4">
              <a:rPr lang="en-US" smtClean="0"/>
              <a:pPr/>
              <a:t>August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5124450" y="2571552"/>
            <a:ext cx="51435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1"/>
            <a:ext cx="6629400" cy="3771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8118-FB93-4E87-B380-0175F2FE2167}" type="datetime4">
              <a:rPr lang="en-US" smtClean="0"/>
              <a:pPr/>
              <a:t>August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685801"/>
            <a:ext cx="926980" cy="3771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001980"/>
            <a:ext cx="9144000" cy="414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14476"/>
            <a:ext cx="8229600" cy="3088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04885"/>
            <a:ext cx="3181350" cy="219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16C01193-8287-4834-A286-6B880643E934}" type="datetime4">
              <a:rPr lang="en-US" smtClean="0"/>
              <a:pPr/>
              <a:t>August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4864894"/>
            <a:ext cx="6248400" cy="219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4629150"/>
            <a:ext cx="10668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998577"/>
            <a:ext cx="9144000" cy="1191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731520"/>
            <a:ext cx="4114800" cy="52578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sldNum="0" hdr="0" ftr="0" dt="0"/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-2-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-2-3.svg"/><Relationship Id="rId4" Type="http://schemas.openxmlformats.org/officeDocument/2006/relationships/image" Target="../media/image-2-3.svg"/><Relationship Id="rId9" Type="http://schemas.openxmlformats.org/officeDocument/2006/relationships/image" Target="../media/image-2-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-3-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-3-3.svg"/><Relationship Id="rId5" Type="http://schemas.openxmlformats.org/officeDocument/2006/relationships/image" Target="../media/image-3-3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-4-4.svg"/><Relationship Id="rId5" Type="http://schemas.openxmlformats.org/officeDocument/2006/relationships/image" Target="../media/image6.png"/><Relationship Id="rId10" Type="http://schemas.openxmlformats.org/officeDocument/2006/relationships/image" Target="../media/image-4-8.svg"/><Relationship Id="rId4" Type="http://schemas.openxmlformats.org/officeDocument/2006/relationships/image" Target="../media/image-4-2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7723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800" dirty="0">
                <a:solidFill>
                  <a:srgbClr val="00B0F0"/>
                </a:solidFill>
              </a:rPr>
              <a:t>Duplicate File Detection System</a:t>
            </a:r>
            <a:endParaRPr lang="en-US" sz="275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67519" y="250373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2000" dirty="0">
                <a:solidFill>
                  <a:srgbClr val="7030A0"/>
                </a:solidFill>
              </a:rPr>
              <a:t>An Algorithmic Approach to Cloud </a:t>
            </a:r>
            <a:r>
              <a:rPr lang="en-US" sz="2000" dirty="0" err="1">
                <a:solidFill>
                  <a:srgbClr val="7030A0"/>
                </a:solidFill>
              </a:rPr>
              <a:t>Deduplication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2925440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7519" y="3139380"/>
            <a:ext cx="8608963" cy="1034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2510080014-Manohar </a:t>
            </a:r>
            <a:r>
              <a:rPr lang="en-US" sz="1600" dirty="0" err="1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Chowdary</a:t>
            </a:r>
            <a:endParaRPr lang="en-US" sz="1600" dirty="0" smtClean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algn="ctr">
              <a:lnSpc>
                <a:spcPct val="133000"/>
              </a:lnSpc>
            </a:pPr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2510080040-Pavan </a:t>
            </a:r>
            <a:r>
              <a:rPr lang="en-US" sz="1600" dirty="0" err="1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Kowshik</a:t>
            </a:r>
            <a:endParaRPr lang="en-US" sz="1600" dirty="0" smtClean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algn="ctr">
              <a:lnSpc>
                <a:spcPct val="133000"/>
              </a:lnSpc>
            </a:pPr>
            <a:r>
              <a:rPr lang="en-US" sz="1600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2510080009-M.Akhil</a:t>
            </a:r>
          </a:p>
          <a:p>
            <a:pPr algn="ctr">
              <a:lnSpc>
                <a:spcPct val="133000"/>
              </a:lnSpc>
            </a:pPr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2510080047-B.Jeshwanth Reddy</a:t>
            </a:r>
            <a:endParaRPr lang="en-US" sz="1600" dirty="0" smtClean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algn="ctr">
              <a:lnSpc>
                <a:spcPct val="133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51284" y="857324"/>
            <a:ext cx="125529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0868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Scalability Crisis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01949"/>
            <a:ext cx="1880592" cy="22671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3127" y="2062758"/>
            <a:ext cx="14827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B0F0"/>
                </a:solidFill>
              </a:rPr>
              <a:t>JVM Memory </a:t>
            </a:r>
            <a:r>
              <a:rPr lang="en-US" sz="1400" dirty="0" smtClean="0">
                <a:solidFill>
                  <a:srgbClr val="00B0F0"/>
                </a:solidFill>
              </a:rPr>
              <a:t>Crash</a:t>
            </a:r>
          </a:p>
          <a:p>
            <a:pPr>
              <a:lnSpc>
                <a:spcPct val="104000"/>
              </a:lnSpc>
            </a:pPr>
            <a:r>
              <a:rPr lang="en-US" sz="1400" dirty="0" smtClean="0">
                <a:solidFill>
                  <a:srgbClr val="00B0F0"/>
                </a:solidFill>
              </a:rPr>
              <a:t>(</a:t>
            </a:r>
            <a:r>
              <a:rPr lang="en-US" sz="1400" dirty="0">
                <a:solidFill>
                  <a:srgbClr val="00B0F0"/>
                </a:solidFill>
              </a:rPr>
              <a:t>Java Virtual Machine</a:t>
            </a:r>
            <a:r>
              <a:rPr lang="en-US" sz="1400" dirty="0" smtClean="0">
                <a:solidFill>
                  <a:srgbClr val="00B0F0"/>
                </a:solidFill>
              </a:rPr>
              <a:t>)</a:t>
            </a:r>
            <a:endParaRPr lang="en-US" sz="1350" dirty="0">
              <a:solidFill>
                <a:srgbClr val="00B0F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733127" y="2647429"/>
            <a:ext cx="148277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Loading massive files entirely into RAM causes the Java Virtual Machine to throw an </a:t>
            </a:r>
            <a:r>
              <a:rPr lang="en-US" sz="11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OutOfMemoryError</a:t>
            </a:r>
            <a:endParaRPr lang="en-US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8470" y="1901949"/>
            <a:ext cx="1880592" cy="22671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55478" y="2062758"/>
            <a:ext cx="14827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04000"/>
              </a:lnSpc>
            </a:pPr>
            <a:r>
              <a:rPr lang="en-US" sz="1400" dirty="0" smtClean="0">
                <a:solidFill>
                  <a:srgbClr val="00B0F0"/>
                </a:solidFill>
              </a:rPr>
              <a:t>O(N) Time </a:t>
            </a:r>
            <a:r>
              <a:rPr lang="en-US" sz="1400" dirty="0">
                <a:solidFill>
                  <a:srgbClr val="00B0F0"/>
                </a:solidFill>
              </a:rPr>
              <a:t>Bottleneck</a:t>
            </a:r>
            <a:endParaRPr lang="en-US" sz="1350" dirty="0">
              <a:solidFill>
                <a:srgbClr val="00B0F0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2755478" y="2647429"/>
            <a:ext cx="148277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Comparing large files byte-by-byte takes </a:t>
            </a:r>
            <a:r>
              <a:rPr lang="en-US" sz="11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O(N) time</a:t>
            </a: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creating severe processing lag across the system.</a:t>
            </a: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9701" y="1901949"/>
            <a:ext cx="1880592" cy="22671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86710" y="2062758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B0F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Storage Waste</a:t>
            </a:r>
            <a:endParaRPr lang="en-US" sz="1350" dirty="0">
              <a:solidFill>
                <a:srgbClr val="00B0F0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4986710" y="2425973"/>
            <a:ext cx="148277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Millions of redundant file uploads (e.g., identical videos) consume unnecessary cloud space and inflate costs.</a:t>
            </a: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72052" y="1901949"/>
            <a:ext cx="1880592" cy="22671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09061" y="2062758"/>
            <a:ext cx="14827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B0F0"/>
                </a:solidFill>
              </a:rPr>
              <a:t>Slow Network Speeds</a:t>
            </a:r>
            <a:endParaRPr lang="en-US" sz="1350" dirty="0">
              <a:solidFill>
                <a:srgbClr val="00B0F0"/>
              </a:solidFill>
            </a:endParaRPr>
          </a:p>
        </p:txBody>
      </p:sp>
      <p:sp>
        <p:nvSpPr>
          <p:cNvPr id="17" name="Text 10"/>
          <p:cNvSpPr/>
          <p:nvPr/>
        </p:nvSpPr>
        <p:spPr>
          <a:xfrm>
            <a:off x="7009061" y="2647429"/>
            <a:ext cx="148277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Repeatedly uploading the exact same files congests the network and degrades overall user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39800"/>
            <a:ext cx="1039267" cy="215354"/>
          </a:xfrm>
          <a:prstGeom prst="roundRect">
            <a:avLst>
              <a:gd name="adj" fmla="val 7900"/>
            </a:avLst>
          </a:prstGeom>
          <a:solidFill>
            <a:srgbClr val="1107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74" y="1190774"/>
            <a:ext cx="113407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284" y="1182291"/>
            <a:ext cx="115624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4118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067446"/>
            <a:ext cx="2622724" cy="1936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22351" y="217378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56927" y="2634407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Scalable Deduplication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56927" y="2940918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 massive files efficiently using </a:t>
            </a:r>
            <a:r>
              <a:rPr lang="en-US" sz="11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O(1) </a:t>
            </a:r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chunked streams to eliminate memory crashes.</a:t>
            </a: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601" y="2067446"/>
            <a:ext cx="2622724" cy="19361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86833" y="217378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421410" y="2634407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dirty="0" smtClean="0"/>
              <a:t> </a:t>
            </a:r>
            <a:r>
              <a:rPr lang="en-US" sz="1400" b="1" dirty="0"/>
              <a:t>Cryptographic Hashing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3421410" y="3162374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endParaRPr lang="en-US" dirty="0">
              <a:solidFill>
                <a:srgbClr val="92D050"/>
              </a:solidFill>
            </a:endParaRPr>
          </a:p>
          <a:p>
            <a:pPr lvl="1"/>
            <a:r>
              <a:rPr lang="en-US" dirty="0">
                <a:solidFill>
                  <a:srgbClr val="92D050"/>
                </a:solidFill>
              </a:rPr>
              <a:t>Generate a unique SHA-256 digital signature to safely identify duplicate files.</a:t>
            </a: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5083" y="2067446"/>
            <a:ext cx="2622724" cy="193617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51316" y="217378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185892" y="2634407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/>
              <a:t>Fast Database Lookups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185892" y="2940918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/>
            <a:r>
              <a:rPr lang="en-US" sz="1100" dirty="0" smtClean="0">
                <a:solidFill>
                  <a:srgbClr val="92D050"/>
                </a:solidFill>
              </a:rPr>
              <a:t>Instant O(1) </a:t>
            </a:r>
            <a:r>
              <a:rPr lang="en-US" sz="1100" dirty="0">
                <a:solidFill>
                  <a:srgbClr val="92D050"/>
                </a:solidFill>
              </a:rPr>
              <a:t>index </a:t>
            </a:r>
            <a:r>
              <a:rPr lang="en-US" sz="1100" dirty="0" smtClean="0">
                <a:solidFill>
                  <a:srgbClr val="92D050"/>
                </a:solidFill>
              </a:rPr>
              <a:t>checking via </a:t>
            </a:r>
            <a:r>
              <a:rPr lang="en-US" sz="1100" dirty="0" err="1">
                <a:solidFill>
                  <a:srgbClr val="92D050"/>
                </a:solidFill>
              </a:rPr>
              <a:t>MongoDB</a:t>
            </a:r>
            <a:r>
              <a:rPr lang="en-US" sz="1100" dirty="0">
                <a:solidFill>
                  <a:srgbClr val="92D050"/>
                </a:solidFill>
              </a:rPr>
              <a:t> to block duplicate files before they upload.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87896"/>
            <a:ext cx="539055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830387"/>
            <a:ext cx="8261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599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715542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247081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/>
              <a:t>Java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55359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92D050"/>
                </a:solidFill>
              </a:rPr>
              <a:t>Core programming language used to build the entire </a:t>
            </a:r>
            <a:endParaRPr lang="en-US" sz="1100" dirty="0" smtClean="0">
              <a:solidFill>
                <a:srgbClr val="92D050"/>
              </a:solidFill>
            </a:endParaRPr>
          </a:p>
          <a:p>
            <a:pPr>
              <a:lnSpc>
                <a:spcPct val="133000"/>
              </a:lnSpc>
            </a:pPr>
            <a:r>
              <a:rPr lang="en-US" sz="1100" dirty="0" smtClean="0">
                <a:solidFill>
                  <a:srgbClr val="92D050"/>
                </a:solidFill>
              </a:rPr>
              <a:t>backend </a:t>
            </a:r>
            <a:r>
              <a:rPr lang="en-US" sz="1100" dirty="0" err="1">
                <a:solidFill>
                  <a:srgbClr val="92D050"/>
                </a:solidFill>
              </a:rPr>
              <a:t>deduplication</a:t>
            </a:r>
            <a:r>
              <a:rPr lang="en-US" sz="1100" dirty="0">
                <a:solidFill>
                  <a:srgbClr val="92D050"/>
                </a:solidFill>
              </a:rPr>
              <a:t> system.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1715542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2247081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chemeClr val="bg1"/>
                </a:solidFill>
              </a:rPr>
              <a:t>SHA-256 </a:t>
            </a:r>
            <a:r>
              <a:rPr lang="en-US" sz="1400" dirty="0"/>
              <a:t>Code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0553" y="2553593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92D050"/>
                </a:solidFill>
              </a:rPr>
              <a:t>Converts every file into a unique code to check for exact duplicates.</a:t>
            </a: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90739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3822278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MongoDB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96119" y="4128790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92D050"/>
                </a:solidFill>
              </a:rPr>
              <a:t>Fast database used to store file unique codes for </a:t>
            </a:r>
            <a:endParaRPr lang="en-US" sz="1100" dirty="0" smtClean="0">
              <a:solidFill>
                <a:srgbClr val="92D050"/>
              </a:solidFill>
            </a:endParaRPr>
          </a:p>
          <a:p>
            <a:pPr>
              <a:lnSpc>
                <a:spcPct val="133000"/>
              </a:lnSpc>
            </a:pPr>
            <a:r>
              <a:rPr lang="en-US" sz="1100" dirty="0" smtClean="0">
                <a:solidFill>
                  <a:srgbClr val="92D050"/>
                </a:solidFill>
              </a:rPr>
              <a:t>instant O(1) </a:t>
            </a:r>
            <a:r>
              <a:rPr lang="en-US" sz="1100" dirty="0">
                <a:solidFill>
                  <a:srgbClr val="92D050"/>
                </a:solidFill>
              </a:rPr>
              <a:t>lookups.</a:t>
            </a: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0553" y="3290739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0553" y="3822278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chemeClr val="bg1"/>
                </a:solidFill>
              </a:rPr>
              <a:t>Java IO </a:t>
            </a:r>
            <a:r>
              <a:rPr lang="en-US" sz="1400" dirty="0"/>
              <a:t>Streams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660553" y="4128790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92D050"/>
                </a:solidFill>
              </a:rPr>
              <a:t>Memory-safe chunked file reading (</a:t>
            </a:r>
            <a:r>
              <a:rPr lang="en-US" sz="1100" dirty="0" err="1">
                <a:solidFill>
                  <a:srgbClr val="92D050"/>
                </a:solidFill>
              </a:rPr>
              <a:t>FileInputStream</a:t>
            </a:r>
            <a:r>
              <a:rPr lang="en-US" sz="1100" dirty="0">
                <a:solidFill>
                  <a:srgbClr val="92D050"/>
                </a:solidFill>
              </a:rPr>
              <a:t>) to prevent </a:t>
            </a:r>
            <a:endParaRPr lang="en-US" sz="1100" dirty="0" smtClean="0">
              <a:solidFill>
                <a:srgbClr val="92D050"/>
              </a:solidFill>
            </a:endParaRPr>
          </a:p>
          <a:p>
            <a:pPr>
              <a:lnSpc>
                <a:spcPct val="133000"/>
              </a:lnSpc>
            </a:pPr>
            <a:r>
              <a:rPr lang="en-US" sz="1100" dirty="0" smtClean="0">
                <a:solidFill>
                  <a:srgbClr val="92D050"/>
                </a:solidFill>
              </a:rPr>
              <a:t>JVM </a:t>
            </a:r>
            <a:r>
              <a:rPr lang="en-US" sz="1100" dirty="0">
                <a:solidFill>
                  <a:srgbClr val="92D050"/>
                </a:solidFill>
              </a:rPr>
              <a:t>crashes.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96565" cy="107603"/>
          </a:xfrm>
          <a:prstGeom prst="roundRect">
            <a:avLst>
              <a:gd name="adj" fmla="val 7905"/>
            </a:avLst>
          </a:prstGeom>
          <a:solidFill>
            <a:srgbClr val="1107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09" y="415305"/>
            <a:ext cx="56704" cy="567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664" y="411063"/>
            <a:ext cx="78372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Expected Outcomes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753124" y="2657698"/>
            <a:ext cx="188267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11" name="Text 5"/>
          <p:cNvSpPr/>
          <p:nvPr/>
        </p:nvSpPr>
        <p:spPr>
          <a:xfrm>
            <a:off x="6769968" y="2511549"/>
            <a:ext cx="188267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50" dirty="0"/>
          </a:p>
        </p:txBody>
      </p:sp>
      <p:sp>
        <p:nvSpPr>
          <p:cNvPr id="12" name="Text 6"/>
          <p:cNvSpPr/>
          <p:nvPr/>
        </p:nvSpPr>
        <p:spPr>
          <a:xfrm>
            <a:off x="6769968" y="2657698"/>
            <a:ext cx="188267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20" name="Right Arrow 19"/>
          <p:cNvSpPr/>
          <p:nvPr/>
        </p:nvSpPr>
        <p:spPr>
          <a:xfrm>
            <a:off x="744402" y="1688879"/>
            <a:ext cx="1953730" cy="21274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smtClean="0"/>
          </a:p>
          <a:p>
            <a:pPr algn="ctr"/>
            <a:endParaRPr lang="en-US" sz="1100" dirty="0"/>
          </a:p>
          <a:p>
            <a:pPr algn="ctr"/>
            <a:r>
              <a:rPr lang="en-US" sz="1100" dirty="0" smtClean="0">
                <a:solidFill>
                  <a:srgbClr val="FF0000"/>
                </a:solidFill>
              </a:rPr>
              <a:t>Fast </a:t>
            </a:r>
            <a:r>
              <a:rPr lang="en-US" sz="1100" dirty="0">
                <a:solidFill>
                  <a:srgbClr val="FF0000"/>
                </a:solidFill>
              </a:rPr>
              <a:t>Duplicate </a:t>
            </a:r>
            <a:r>
              <a:rPr lang="en-US" sz="1100" dirty="0" smtClean="0">
                <a:solidFill>
                  <a:srgbClr val="FF0000"/>
                </a:solidFill>
              </a:rPr>
              <a:t>Check</a:t>
            </a:r>
          </a:p>
          <a:p>
            <a:r>
              <a:rPr lang="en-US" sz="1100" dirty="0"/>
              <a:t>Instantly compares file unique codes to spot and remove duplicates in seconds</a:t>
            </a:r>
            <a:endParaRPr lang="en-US" sz="1100" dirty="0" smtClean="0"/>
          </a:p>
          <a:p>
            <a:pPr algn="ctr"/>
            <a:endParaRPr lang="en-US" sz="1100" dirty="0"/>
          </a:p>
          <a:p>
            <a:pPr algn="ctr"/>
            <a:endParaRPr lang="en-US" sz="1100" dirty="0" smtClean="0"/>
          </a:p>
        </p:txBody>
      </p:sp>
      <p:sp>
        <p:nvSpPr>
          <p:cNvPr id="22" name="Right Arrow 21"/>
          <p:cNvSpPr/>
          <p:nvPr/>
        </p:nvSpPr>
        <p:spPr>
          <a:xfrm>
            <a:off x="3043000" y="1615853"/>
            <a:ext cx="1922700" cy="22735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 smtClean="0">
              <a:solidFill>
                <a:srgbClr val="FF0000"/>
              </a:solidFill>
            </a:endParaRPr>
          </a:p>
          <a:p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 smtClean="0">
              <a:solidFill>
                <a:srgbClr val="FF0000"/>
              </a:solidFill>
            </a:endParaRPr>
          </a:p>
          <a:p>
            <a:r>
              <a:rPr lang="en-US" sz="1200" dirty="0" smtClean="0">
                <a:solidFill>
                  <a:srgbClr val="FF0000"/>
                </a:solidFill>
              </a:rPr>
              <a:t>Saved Storage Space</a:t>
            </a:r>
          </a:p>
          <a:p>
            <a:r>
              <a:rPr lang="en-US" sz="1200" dirty="0"/>
              <a:t>Removes identical files to free up disk space and optimize system storage.</a:t>
            </a:r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 smtClean="0">
              <a:solidFill>
                <a:srgbClr val="FF0000"/>
              </a:solidFill>
            </a:endParaRPr>
          </a:p>
          <a:p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5194300" y="1695008"/>
            <a:ext cx="2292350" cy="2127471"/>
          </a:xfrm>
          <a:prstGeom prst="rightArrow">
            <a:avLst>
              <a:gd name="adj1" fmla="val 50000"/>
              <a:gd name="adj2" fmla="val 48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 smtClean="0">
              <a:solidFill>
                <a:srgbClr val="FF0000"/>
              </a:solidFill>
            </a:endParaRPr>
          </a:p>
          <a:p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 smtClean="0">
              <a:solidFill>
                <a:srgbClr val="FF0000"/>
              </a:solidFill>
            </a:endParaRPr>
          </a:p>
          <a:p>
            <a:r>
              <a:rPr lang="en-US" sz="1200" dirty="0" smtClean="0">
                <a:solidFill>
                  <a:srgbClr val="FF0000"/>
                </a:solidFill>
              </a:rPr>
              <a:t>Accurate Results</a:t>
            </a:r>
          </a:p>
          <a:p>
            <a:r>
              <a:rPr lang="en-US" sz="1200" dirty="0" smtClean="0"/>
              <a:t>Ensures </a:t>
            </a:r>
            <a:r>
              <a:rPr lang="en-US" sz="1200" dirty="0"/>
              <a:t>clean, well-organized file directories without redundant copies.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 smtClean="0">
              <a:solidFill>
                <a:srgbClr val="FF0000"/>
              </a:solidFill>
            </a:endParaRPr>
          </a:p>
          <a:p>
            <a:endParaRPr lang="en-US" sz="12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74" y="527149"/>
            <a:ext cx="113407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284" y="518666"/>
            <a:ext cx="132844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8" y="53878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Modules &amp; Process Flow</a:t>
            </a:r>
            <a:endParaRPr lang="en-US" sz="2750" dirty="0"/>
          </a:p>
        </p:txBody>
      </p:sp>
      <p:sp>
        <p:nvSpPr>
          <p:cNvPr id="10" name="Text 6"/>
          <p:cNvSpPr/>
          <p:nvPr/>
        </p:nvSpPr>
        <p:spPr>
          <a:xfrm>
            <a:off x="496119" y="421369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transforms raw documents into searchable, deduplicated signatures — enabling sub-linear similarity retrieval at scale.</a:t>
            </a:r>
            <a:endParaRPr lang="en-US" sz="1100" dirty="0"/>
          </a:p>
        </p:txBody>
      </p:sp>
      <p:sp>
        <p:nvSpPr>
          <p:cNvPr id="12" name="Rectangle 11"/>
          <p:cNvSpPr/>
          <p:nvPr/>
        </p:nvSpPr>
        <p:spPr>
          <a:xfrm>
            <a:off x="1257300" y="1191220"/>
            <a:ext cx="56007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[ Step 1: Data Ingestion ]</a:t>
            </a:r>
          </a:p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 │</a:t>
            </a:r>
          </a:p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 ▼ (Reads files in chunks using Java IO)</a:t>
            </a:r>
          </a:p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[ Step 2: Unique Code Generation ]</a:t>
            </a:r>
          </a:p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 │</a:t>
            </a:r>
          </a:p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 ▼ (Converts content into an SHA-256 code)</a:t>
            </a:r>
          </a:p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[ Step 3: Database Storage &amp; Check ]</a:t>
            </a:r>
          </a:p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 │</a:t>
            </a:r>
          </a:p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 ▼ (Compares codes in </a:t>
            </a: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MongoDB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for instant duplicate detection)</a:t>
            </a:r>
          </a:p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[ Result: Duplicate Found or Saved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4784"/>
            <a:ext cx="781645" cy="195114"/>
          </a:xfrm>
          <a:prstGeom prst="roundRect">
            <a:avLst>
              <a:gd name="adj" fmla="val 7902"/>
            </a:avLst>
          </a:prstGeom>
          <a:solidFill>
            <a:srgbClr val="1107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37" y="460921"/>
            <a:ext cx="102766" cy="1027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7249" y="453256"/>
            <a:ext cx="930697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656406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Timeline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96119" y="2674441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65696B"/>
          </a:solidFill>
          <a:ln/>
        </p:spPr>
      </p:sp>
      <p:sp>
        <p:nvSpPr>
          <p:cNvPr id="7" name="Shape 4"/>
          <p:cNvSpPr/>
          <p:nvPr/>
        </p:nvSpPr>
        <p:spPr>
          <a:xfrm>
            <a:off x="2075631" y="2289051"/>
            <a:ext cx="14288" cy="385390"/>
          </a:xfrm>
          <a:prstGeom prst="roundRect">
            <a:avLst>
              <a:gd name="adj" fmla="val 49998"/>
            </a:avLst>
          </a:prstGeom>
          <a:solidFill>
            <a:srgbClr val="65696B"/>
          </a:solidFill>
          <a:ln/>
        </p:spPr>
      </p:sp>
      <p:sp>
        <p:nvSpPr>
          <p:cNvPr id="8" name="Shape 5"/>
          <p:cNvSpPr/>
          <p:nvPr/>
        </p:nvSpPr>
        <p:spPr>
          <a:xfrm>
            <a:off x="1938263" y="2529929"/>
            <a:ext cx="289024" cy="289024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1986446" y="2554002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57" y="1232446"/>
            <a:ext cx="291651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4557" y="1502941"/>
            <a:ext cx="2916510" cy="65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7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Setup &amp; Ingestion</a:t>
            </a:r>
            <a:endParaRPr lang="en-US" sz="1000" dirty="0">
              <a:solidFill>
                <a:schemeClr val="bg1"/>
              </a:solidFill>
            </a:endParaRPr>
          </a:p>
          <a:p>
            <a:pPr algn="ctr">
              <a:lnSpc>
                <a:spcPct val="127000"/>
              </a:lnSpc>
            </a:pPr>
            <a:r>
              <a:rPr lang="en-US" sz="1000" dirty="0"/>
              <a:t>Environment setup, Java IO stream reading, and file chunking logic.</a:t>
            </a:r>
          </a:p>
        </p:txBody>
      </p:sp>
      <p:sp>
        <p:nvSpPr>
          <p:cNvPr id="12" name="Shape 9"/>
          <p:cNvSpPr/>
          <p:nvPr/>
        </p:nvSpPr>
        <p:spPr>
          <a:xfrm>
            <a:off x="3735065" y="2674441"/>
            <a:ext cx="14288" cy="385390"/>
          </a:xfrm>
          <a:prstGeom prst="roundRect">
            <a:avLst>
              <a:gd name="adj" fmla="val 49998"/>
            </a:avLst>
          </a:prstGeom>
          <a:solidFill>
            <a:srgbClr val="65696B"/>
          </a:solidFill>
          <a:ln/>
        </p:spPr>
      </p:sp>
      <p:sp>
        <p:nvSpPr>
          <p:cNvPr id="13" name="Shape 10"/>
          <p:cNvSpPr/>
          <p:nvPr/>
        </p:nvSpPr>
        <p:spPr>
          <a:xfrm>
            <a:off x="3597697" y="2529929"/>
            <a:ext cx="289024" cy="289024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3645880" y="2554002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283991" y="3188345"/>
            <a:ext cx="291651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2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283991" y="3458840"/>
            <a:ext cx="2916510" cy="65759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7000"/>
              </a:lnSpc>
              <a:spcAft>
                <a:spcPts val="500"/>
              </a:spcAft>
              <a:buNone/>
            </a:pPr>
            <a:r>
              <a:rPr lang="en-US" sz="10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Algorithm</a:t>
            </a:r>
            <a:endParaRPr lang="en-US" sz="1000" dirty="0"/>
          </a:p>
          <a:p>
            <a:pPr algn="ctr">
              <a:lnSpc>
                <a:spcPct val="127000"/>
              </a:lnSpc>
            </a:pPr>
            <a:r>
              <a:rPr lang="en-US" sz="1000" dirty="0"/>
              <a:t>Implementing SHA-256 to generate unique file code signatures.</a:t>
            </a:r>
          </a:p>
        </p:txBody>
      </p:sp>
      <p:sp>
        <p:nvSpPr>
          <p:cNvPr id="17" name="Shape 14"/>
          <p:cNvSpPr/>
          <p:nvPr/>
        </p:nvSpPr>
        <p:spPr>
          <a:xfrm>
            <a:off x="5394499" y="2289051"/>
            <a:ext cx="14288" cy="385390"/>
          </a:xfrm>
          <a:prstGeom prst="roundRect">
            <a:avLst>
              <a:gd name="adj" fmla="val 49998"/>
            </a:avLst>
          </a:prstGeom>
          <a:solidFill>
            <a:srgbClr val="65696B"/>
          </a:solidFill>
          <a:ln/>
        </p:spPr>
      </p:sp>
      <p:sp>
        <p:nvSpPr>
          <p:cNvPr id="18" name="Shape 15"/>
          <p:cNvSpPr/>
          <p:nvPr/>
        </p:nvSpPr>
        <p:spPr>
          <a:xfrm>
            <a:off x="5257130" y="2529929"/>
            <a:ext cx="289024" cy="289024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9" name="Text 16"/>
          <p:cNvSpPr/>
          <p:nvPr/>
        </p:nvSpPr>
        <p:spPr>
          <a:xfrm>
            <a:off x="5305313" y="2554002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943424" y="1232446"/>
            <a:ext cx="291651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3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943424" y="1502941"/>
            <a:ext cx="2916510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7000"/>
              </a:lnSpc>
              <a:spcAft>
                <a:spcPts val="500"/>
              </a:spcAft>
            </a:pPr>
            <a:r>
              <a:rPr lang="en-US" sz="1000" dirty="0"/>
              <a:t>Database </a:t>
            </a:r>
            <a:r>
              <a:rPr lang="en-US" sz="1000" dirty="0" smtClean="0"/>
              <a:t>Integration</a:t>
            </a:r>
          </a:p>
          <a:p>
            <a:pPr algn="ctr">
              <a:lnSpc>
                <a:spcPct val="127000"/>
              </a:lnSpc>
              <a:spcAft>
                <a:spcPts val="500"/>
              </a:spcAft>
            </a:pPr>
            <a:r>
              <a:rPr lang="en-US" sz="1000" dirty="0"/>
              <a:t>Connecting Java backend with </a:t>
            </a:r>
            <a:r>
              <a:rPr lang="en-US" sz="1000" dirty="0" err="1"/>
              <a:t>MongoDB</a:t>
            </a:r>
            <a:r>
              <a:rPr lang="en-US" sz="1000" dirty="0"/>
              <a:t> to store and index file codes.</a:t>
            </a:r>
          </a:p>
        </p:txBody>
      </p:sp>
      <p:sp>
        <p:nvSpPr>
          <p:cNvPr id="22" name="Shape 19"/>
          <p:cNvSpPr/>
          <p:nvPr/>
        </p:nvSpPr>
        <p:spPr>
          <a:xfrm>
            <a:off x="7053932" y="2674441"/>
            <a:ext cx="14288" cy="385390"/>
          </a:xfrm>
          <a:prstGeom prst="roundRect">
            <a:avLst>
              <a:gd name="adj" fmla="val 49998"/>
            </a:avLst>
          </a:prstGeom>
          <a:solidFill>
            <a:srgbClr val="65696B"/>
          </a:solidFill>
          <a:ln/>
        </p:spPr>
      </p:sp>
      <p:sp>
        <p:nvSpPr>
          <p:cNvPr id="23" name="Shape 20"/>
          <p:cNvSpPr/>
          <p:nvPr/>
        </p:nvSpPr>
        <p:spPr>
          <a:xfrm>
            <a:off x="6916564" y="2529929"/>
            <a:ext cx="289024" cy="289024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24" name="Text 21"/>
          <p:cNvSpPr/>
          <p:nvPr/>
        </p:nvSpPr>
        <p:spPr>
          <a:xfrm>
            <a:off x="6964747" y="2554002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602858" y="3188345"/>
            <a:ext cx="291651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4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602858" y="3458840"/>
            <a:ext cx="2916510" cy="65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7000"/>
              </a:lnSpc>
              <a:spcAft>
                <a:spcPts val="500"/>
              </a:spcAft>
              <a:buNone/>
            </a:pPr>
            <a:r>
              <a:rPr lang="en-US" sz="10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Validation</a:t>
            </a:r>
            <a:endParaRPr lang="en-US" sz="1000" dirty="0"/>
          </a:p>
          <a:p>
            <a:pPr algn="ctr">
              <a:lnSpc>
                <a:spcPct val="127000"/>
              </a:lnSpc>
            </a:pPr>
            <a:r>
              <a:rPr lang="en-US" sz="1000" dirty="0"/>
              <a:t>Testing system performance with large files to ensure zero memory crashes</a:t>
            </a:r>
          </a:p>
        </p:txBody>
      </p:sp>
      <p:sp>
        <p:nvSpPr>
          <p:cNvPr id="29" name="Text 25"/>
          <p:cNvSpPr/>
          <p:nvPr/>
        </p:nvSpPr>
        <p:spPr>
          <a:xfrm>
            <a:off x="913581" y="4395862"/>
            <a:ext cx="80630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9814" y="1205984"/>
            <a:ext cx="885163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97165" y="469384"/>
            <a:ext cx="1980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214" y="1018738"/>
            <a:ext cx="885163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Overview </a:t>
            </a:r>
            <a:r>
              <a:rPr lang="en-US" sz="1400" b="1" dirty="0"/>
              <a:t>of Text Analytics: Research and platforms like </a:t>
            </a:r>
            <a:r>
              <a:rPr lang="en-US" sz="1400" b="1" dirty="0" err="1"/>
              <a:t>TextHack</a:t>
            </a:r>
            <a:r>
              <a:rPr lang="en-US" sz="1400" b="1" dirty="0"/>
              <a:t> demonstrate how combining various algorithmic techniques solves real-world text processing, searching, and sequence analysis challenges</a:t>
            </a:r>
            <a:r>
              <a:rPr lang="en-US" sz="1400" b="1" dirty="0" smtClean="0"/>
              <a:t>.</a:t>
            </a:r>
            <a:endParaRPr lang="en-US" sz="1400" b="1" dirty="0"/>
          </a:p>
          <a:p>
            <a:r>
              <a:rPr lang="en-US" sz="1400" b="1" dirty="0"/>
              <a:t>Exact String Matching:</a:t>
            </a:r>
          </a:p>
          <a:p>
            <a:r>
              <a:rPr lang="en-US" sz="1400" b="1" dirty="0"/>
              <a:t>Naïve Algorithm: The simplest approach that checks text character-by-character, resulting in a time complexity of O(</a:t>
            </a:r>
            <a:r>
              <a:rPr lang="en-US" sz="1400" b="1" dirty="0" err="1"/>
              <a:t>mxn</a:t>
            </a:r>
            <a:r>
              <a:rPr lang="en-US" sz="1400" b="1" dirty="0"/>
              <a:t>), but it suffers from redundant</a:t>
            </a:r>
          </a:p>
          <a:p>
            <a:r>
              <a:rPr lang="en-US" sz="1400" b="1" dirty="0"/>
              <a:t>comparisons on large datasets. </a:t>
            </a:r>
          </a:p>
          <a:p>
            <a:r>
              <a:rPr lang="en-US" sz="1400" b="1" dirty="0"/>
              <a:t>Knuth-Morris-Pratt (KMP): Improves search efficiency to linear time O(N + M) by using a preprocessing prefix table (LPS array) to skip character re-comparisons during a mismatch. </a:t>
            </a:r>
          </a:p>
          <a:p>
            <a:r>
              <a:rPr lang="en-US" sz="1400" b="1" dirty="0"/>
              <a:t>Rabin-Karp Algorithm: Utilizes rolling hashing and numeric hash values to check patterns rapidly, making it effective for string matching and data </a:t>
            </a:r>
            <a:r>
              <a:rPr lang="en-US" sz="1400" b="1" dirty="0" err="1"/>
              <a:t>deduplication</a:t>
            </a:r>
            <a:r>
              <a:rPr lang="en-US" sz="1400" b="1" dirty="0" smtClean="0"/>
              <a:t>.</a:t>
            </a:r>
            <a:endParaRPr lang="en-US" sz="1400" b="1" dirty="0"/>
          </a:p>
          <a:p>
            <a:r>
              <a:rPr lang="en-US" sz="1400" b="1" dirty="0"/>
              <a:t>Advanced Indexing Structures:</a:t>
            </a:r>
          </a:p>
          <a:p>
            <a:r>
              <a:rPr lang="en-US" sz="1400" b="1" dirty="0"/>
              <a:t>Tries (Prefix Trees</a:t>
            </a:r>
            <a:r>
              <a:rPr lang="en-US" sz="1400" b="1" dirty="0" smtClean="0"/>
              <a:t>):</a:t>
            </a:r>
          </a:p>
          <a:p>
            <a:r>
              <a:rPr lang="en-US" sz="1400" b="1" dirty="0" smtClean="0"/>
              <a:t> </a:t>
            </a:r>
            <a:r>
              <a:rPr lang="en-US" sz="1400" b="1" dirty="0"/>
              <a:t>Tree-based data structures used to store collections of strings and make word or pattern retrieval extremely efficient</a:t>
            </a:r>
            <a:r>
              <a:rPr lang="en-US" sz="1400" b="1" dirty="0" smtClean="0"/>
              <a:t>.</a:t>
            </a:r>
            <a:endParaRPr lang="en-US" sz="1400" b="1" dirty="0"/>
          </a:p>
          <a:p>
            <a:r>
              <a:rPr lang="en-US" sz="1400" b="1" dirty="0"/>
              <a:t>Suffix Arrays &amp; LCP Arrays: Suffix arrays store sorted text suffixes lexicographically, while Kasai's algorithm constructs the Longest Common Prefix (LCP) array in linear time O(n) to optimize document similarity analysis.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5749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7701" y="424934"/>
            <a:ext cx="16022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2.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700" y="1059429"/>
            <a:ext cx="874499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Identifying System Limitations: </a:t>
            </a:r>
            <a:endParaRPr lang="en-US" dirty="0" smtClean="0"/>
          </a:p>
          <a:p>
            <a:r>
              <a:rPr lang="en-US" dirty="0" smtClean="0"/>
              <a:t>Conventional </a:t>
            </a:r>
            <a:r>
              <a:rPr lang="en-US" dirty="0"/>
              <a:t>linear search scales linearly </a:t>
            </a:r>
            <a:r>
              <a:rPr lang="en-US" dirty="0" smtClean="0"/>
              <a:t>O(n) </a:t>
            </a:r>
            <a:r>
              <a:rPr lang="en-US" dirty="0"/>
              <a:t>and becomes a major bottleneck for real-time systems or large collections of files.  Algorithmic Workflow &amp; Design</a:t>
            </a:r>
            <a:r>
              <a:rPr lang="en-US" dirty="0" smtClean="0"/>
              <a:t>:</a:t>
            </a:r>
          </a:p>
          <a:p>
            <a:r>
              <a:rPr lang="en-US" dirty="0" smtClean="0"/>
              <a:t>Step </a:t>
            </a:r>
            <a:r>
              <a:rPr lang="en-US" dirty="0"/>
              <a:t>1 - Data Ingestion &amp; Chunking: Incoming documents or files are read and split systematically into manageable </a:t>
            </a:r>
            <a:r>
              <a:rPr lang="en-US" dirty="0" err="1"/>
              <a:t>blocks.Step</a:t>
            </a:r>
            <a:r>
              <a:rPr lang="en-US" dirty="0"/>
              <a:t> 2 </a:t>
            </a:r>
            <a:r>
              <a:rPr lang="en-US" dirty="0" smtClean="0"/>
              <a:t>–</a:t>
            </a:r>
          </a:p>
          <a:p>
            <a:r>
              <a:rPr lang="en-US" dirty="0" smtClean="0"/>
              <a:t> </a:t>
            </a:r>
            <a:r>
              <a:rPr lang="en-US" dirty="0"/>
              <a:t>Hashing &amp; Fingerprinting: Applying robust hashing techniques (like SHA-256 rolling or cryptographic hashes) to transform raw data into compact, unique digital signatures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Step </a:t>
            </a:r>
            <a:r>
              <a:rPr lang="en-US" dirty="0"/>
              <a:t>3 - Database Indexing &amp; Quick Lookups: Storing and querying unique signatures using indexed database structures to achieve instant </a:t>
            </a:r>
            <a:r>
              <a:rPr lang="en-US" dirty="0" smtClean="0"/>
              <a:t>O(1) </a:t>
            </a:r>
            <a:r>
              <a:rPr lang="en-US" dirty="0"/>
              <a:t>constant-time </a:t>
            </a:r>
            <a:r>
              <a:rPr lang="en-US" dirty="0" smtClean="0"/>
              <a:t>checking</a:t>
            </a:r>
          </a:p>
          <a:p>
            <a:r>
              <a:rPr lang="en-US" dirty="0" smtClean="0"/>
              <a:t>.</a:t>
            </a:r>
            <a:r>
              <a:rPr lang="en-US" dirty="0"/>
              <a:t>Step 4 - Output &amp; Validation: Systematically isolating duplicates or matches without causing system memory exhaustion or performance lags</a:t>
            </a:r>
          </a:p>
        </p:txBody>
      </p:sp>
    </p:spTree>
    <p:extLst>
      <p:ext uri="{BB962C8B-B14F-4D97-AF65-F5344CB8AC3E}">
        <p14:creationId xmlns:p14="http://schemas.microsoft.com/office/powerpoint/2010/main" val="9623388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129</TotalTime>
  <Words>755</Words>
  <Application>Microsoft Office PowerPoint</Application>
  <PresentationFormat>On-screen Show (16:9)</PresentationFormat>
  <Paragraphs>125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Inter</vt:lpstr>
      <vt:lpstr>Calibri</vt:lpstr>
      <vt:lpstr>Garamond</vt:lpstr>
      <vt:lpstr>Tunga</vt:lpstr>
      <vt:lpstr>Inter Bold</vt:lpstr>
      <vt:lpstr>DM Sans Medium</vt:lpstr>
      <vt:lpstr>Tahoma</vt:lpstr>
      <vt:lpstr>BlackTie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ismail - [2010]</cp:lastModifiedBy>
  <cp:revision>13</cp:revision>
  <dcterms:created xsi:type="dcterms:W3CDTF">2026-08-04T14:22:52Z</dcterms:created>
  <dcterms:modified xsi:type="dcterms:W3CDTF">2026-08-17T13:00:13Z</dcterms:modified>
</cp:coreProperties>
</file>